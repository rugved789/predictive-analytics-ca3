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rgbClr val="6F8F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6B6B6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F8F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4B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Legitimate (0)</c:v>
                  </c:pt>
                  <c:pt idx="1">
                    <c:v>Fraud (1)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7637</c:v>
                </c:pt>
                <c:pt idx="1">
                  <c:v>2179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6B6B6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0"/>
          <c:min val="0"/>
        </c:scaling>
        <c:delete val="0"/>
        <c:axPos val="l"/>
        <c:majorGridlines>
          <c:spPr>
            <a:ln w="6350" cap="flat">
              <a:solidFill>
                <a:srgbClr val="DDDD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6B6B6B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6B6B6B"/>
                    </a:solidFill>
                    <a:latin typeface="+mn-lt"/>
                  </a:rPr>
                  <a:t>Accounts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F4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6B6B6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LR</c:v>
                  </c:pt>
                  <c:pt idx="1">
                    <c:v>DT</c:v>
                  </c:pt>
                  <c:pt idx="2">
                    <c:v>RF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0.966</c:v>
                </c:pt>
                <c:pt idx="1">
                  <c:v>0.97</c:v>
                </c:pt>
                <c:pt idx="2">
                  <c:v>0.996</c:v>
                </c:pt>
                <c:pt idx="3">
                  <c:v>0.995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6F8F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6B6B6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LR</c:v>
                  </c:pt>
                  <c:pt idx="1">
                    <c:v>DT</c:v>
                  </c:pt>
                  <c:pt idx="2">
                    <c:v>RF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0.983</c:v>
                </c:pt>
                <c:pt idx="1">
                  <c:v>0.974</c:v>
                </c:pt>
                <c:pt idx="2">
                  <c:v>0.972</c:v>
                </c:pt>
                <c:pt idx="3">
                  <c:v>0.983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8FAF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6B6B6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LR</c:v>
                  </c:pt>
                  <c:pt idx="1">
                    <c:v>DT</c:v>
                  </c:pt>
                  <c:pt idx="2">
                    <c:v>RF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0.974</c:v>
                </c:pt>
                <c:pt idx="1">
                  <c:v>0.972</c:v>
                </c:pt>
                <c:pt idx="2">
                  <c:v>0.984</c:v>
                </c:pt>
                <c:pt idx="3">
                  <c:v>0.989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6B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6B6B6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LR</c:v>
                  </c:pt>
                  <c:pt idx="1">
                    <c:v>DT</c:v>
                  </c:pt>
                  <c:pt idx="2">
                    <c:v>RF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0.995</c:v>
                </c:pt>
                <c:pt idx="1">
                  <c:v>0.951</c:v>
                </c:pt>
                <c:pt idx="2">
                  <c:v>0.999</c:v>
                </c:pt>
                <c:pt idx="3">
                  <c:v>0.998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6B6B6B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6350" cap="flat">
              <a:solidFill>
                <a:srgbClr val="DDDD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6B6B6B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6B6B6B"/>
                    </a:solidFill>
                    <a:latin typeface="+mn-lt"/>
                  </a:rPr>
                  <a:t>5-fold CV score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6B6B6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2F4B6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6B6B6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Total_ERC20_tnxs</c:v>
                  </c:pt>
                  <c:pt idx="1">
                    <c:v>ERC20_most_sent_token_type</c:v>
                  </c:pt>
                  <c:pt idx="2">
                    <c:v>Time_Diff_between_first_and_last_Mins</c:v>
                  </c:pt>
                  <c:pt idx="3">
                    <c:v>ERC20_total_ether_sent</c:v>
                  </c:pt>
                  <c:pt idx="4">
                    <c:v>ERC20_most_rec_token_type_Unknown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2.76</c:v>
                </c:pt>
                <c:pt idx="1">
                  <c:v>1.59</c:v>
                </c:pt>
                <c:pt idx="2">
                  <c:v>1.06</c:v>
                </c:pt>
                <c:pt idx="3">
                  <c:v>0.68</c:v>
                </c:pt>
                <c:pt idx="4">
                  <c:v>0.56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6B6B6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b"/>
        <c:majorGridlines>
          <c:spPr>
            <a:ln w="6350" cap="flat">
              <a:solidFill>
                <a:srgbClr val="DDDD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6B6B6B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6B6B6B"/>
                    </a:solidFill>
                    <a:latin typeface="+mn-lt"/>
                  </a:rPr>
                  <a:t>Mean |SHAP| (log-odds units)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the two presenters and the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Fraud on a public ledger is common, address lists are reactive, so we learn from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objectives, and a clear scope: offline and account-level, no live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 work shows tree models and embeddings work; our gap is diagnostics, train-only decisions, SHAP and reuse.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Cleaning left 9,816 accounts, 22.2% labelled fraud; the stratified split uses seed 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KDD phases exactly as applied in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transformation settings are learned on the training data only and reused for new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and Random Forest are essentially equal on PR-AUC; the threshold was chosen without test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 set was used once: 12 fraud accounts missed and 3 false alarms.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shows what the model uses; it does not show what causes fraud.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files are synthetic; the 6.67% flagged rate is not a fraud rate or an accuracy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repeated patterns and a single split make the scores optimistic.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steps: temporal validation, de-duplication, calibration and a secure monitored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contribution and its limits,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548640" y="2743200"/>
            <a:ext cx="804672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548640" y="960120"/>
            <a:ext cx="804672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Final-Year B.Tech Project  |  Computer Science and Engineering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Detecting Fraudulent Ethereum Accounts from On-Chain Transaction Behaviour Using Machine Learning and the KDD Process</a:t>
            </a:r>
            <a:endParaRPr lang="en-US" sz="2800" dirty="0"/>
          </a:p>
        </p:txBody>
      </p:sp>
      <p:sp>
        <p:nvSpPr>
          <p:cNvPr id="4" name="Presenters"/>
          <p:cNvSpPr txBox="1"/>
          <p:nvPr/>
        </p:nvSpPr>
        <p:spPr>
          <a:xfrm>
            <a:off x="548640" y="29718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Rugved Gadge (PRN 23070521051) and Aman Shrikhande (PRN 23070521010)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Symbiosis Institute of Technology, Nagpur  |  Semester VII, Section A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Guide: [Insert Guide Name]      Date: October 2026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 and Motivation</a:t>
            </a:r>
            <a:endParaRPr lang="en-US" sz="2800" dirty="0"/>
          </a:p>
        </p:txBody>
      </p:sp>
      <p:sp>
        <p:nvSpPr>
          <p:cNvPr id="4" name="s2 bullets"/>
          <p:cNvSpPr txBox="1"/>
          <p:nvPr/>
        </p:nvSpPr>
        <p:spPr>
          <a:xfrm>
            <a:off x="548640" y="137160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Ethereum is public and programmable; fraud (phishing, scams) is common.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Flagged-address lists are reactive and incomplete.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Goal: classify accounts as fraudulent or legitimate from their transaction behaviour.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The task</a:t>
            </a:r>
            <a:endParaRPr lang="en-US" sz="1400" dirty="0"/>
          </a:p>
        </p:txBody>
      </p:sp>
      <p:sp>
        <p:nvSpPr>
          <p:cNvPr id="6" name="input card"/>
          <p:cNvSpPr/>
          <p:nvPr/>
        </p:nvSpPr>
        <p:spPr>
          <a:xfrm>
            <a:off x="5486400" y="169164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ADFD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Account-level transaction features</a:t>
            </a:r>
            <a:endParaRPr lang="en-US" sz="1600" dirty="0"/>
          </a:p>
        </p:txBody>
      </p:sp>
      <p:sp>
        <p:nvSpPr>
          <p:cNvPr id="8" name="arrow"/>
          <p:cNvSpPr/>
          <p:nvPr/>
        </p:nvSpPr>
        <p:spPr>
          <a:xfrm>
            <a:off x="7040880" y="2651760"/>
            <a:ext cx="0" cy="4572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output card"/>
          <p:cNvSpPr/>
          <p:nvPr/>
        </p:nvSpPr>
        <p:spPr>
          <a:xfrm>
            <a:off x="5486400" y="315468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DDE5EC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77840" y="3154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Fraudulent or legitimate?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Objectives and Scope</a:t>
            </a:r>
            <a:endParaRPr lang="en-US" sz="2800" dirty="0"/>
          </a:p>
        </p:txBody>
      </p:sp>
      <p:sp>
        <p:nvSpPr>
          <p:cNvPr id="4" name="objective 1"/>
          <p:cNvSpPr/>
          <p:nvPr/>
        </p:nvSpPr>
        <p:spPr>
          <a:xfrm>
            <a:off x="548640" y="132588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ADFDC"/>
            </a:solidFill>
            <a:prstDash val="solid"/>
          </a:ln>
        </p:spPr>
      </p:sp>
      <p:sp>
        <p:nvSpPr>
          <p:cNvPr id="5" name="number 1"/>
          <p:cNvSpPr/>
          <p:nvPr/>
        </p:nvSpPr>
        <p:spPr>
          <a:xfrm>
            <a:off x="731520" y="1508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Apply the KDD process end to end.</a:t>
            </a:r>
            <a:endParaRPr lang="en-US" sz="1600" dirty="0"/>
          </a:p>
        </p:txBody>
      </p:sp>
      <p:sp>
        <p:nvSpPr>
          <p:cNvPr id="8" name="objective 2"/>
          <p:cNvSpPr/>
          <p:nvPr/>
        </p:nvSpPr>
        <p:spPr>
          <a:xfrm>
            <a:off x="3383280" y="132588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ADFDC"/>
            </a:solidFill>
            <a:prstDash val="solid"/>
          </a:ln>
        </p:spPr>
      </p:sp>
      <p:sp>
        <p:nvSpPr>
          <p:cNvPr id="9" name="number 2"/>
          <p:cNvSpPr/>
          <p:nvPr/>
        </p:nvSpPr>
        <p:spPr>
          <a:xfrm>
            <a:off x="3566160" y="1508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661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2057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Compare four models, tune the best, set threshold without test data.</a:t>
            </a:r>
            <a:endParaRPr lang="en-US" sz="1600" dirty="0"/>
          </a:p>
        </p:txBody>
      </p:sp>
      <p:sp>
        <p:nvSpPr>
          <p:cNvPr id="12" name="objective 3"/>
          <p:cNvSpPr/>
          <p:nvPr/>
        </p:nvSpPr>
        <p:spPr>
          <a:xfrm>
            <a:off x="6217920" y="132588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ADFDC"/>
            </a:solidFill>
            <a:prstDash val="solid"/>
          </a:ln>
        </p:spPr>
      </p:sp>
      <p:sp>
        <p:nvSpPr>
          <p:cNvPr id="13" name="number 3"/>
          <p:cNvSpPr/>
          <p:nvPr/>
        </p:nvSpPr>
        <p:spPr>
          <a:xfrm>
            <a:off x="6400800" y="1508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2057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Explain predictions with SHAP; build a new-account prediction pipeline.</a:t>
            </a:r>
            <a:endParaRPr lang="en-US" sz="1600" dirty="0"/>
          </a:p>
        </p:txBody>
      </p:sp>
      <p:sp>
        <p:nvSpPr>
          <p:cNvPr id="16" name="scope strip"/>
          <p:cNvSpPr/>
          <p:nvPr/>
        </p:nvSpPr>
        <p:spPr>
          <a:xfrm>
            <a:off x="548640" y="36576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DDE5EC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657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Scope: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offline, account-level classification; no live deployment.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Related Work</a:t>
            </a:r>
            <a:endParaRPr lang="en-US" sz="2800" dirty="0"/>
          </a:p>
        </p:txBody>
      </p:sp>
      <p:graphicFrame>
        <p:nvGraphicFramePr>
          <p:cNvPr id="5" name="related wor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B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Farrugia et al., 2020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on account 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0.963, AUC 0.994 (10-fold CV)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Ostapowicz and Żbikowski, 2019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RF, SVM, 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Evaluated on over 300,000 accounts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al., 2018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and contract 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Ponzi-scheme detection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 et al., 2019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embedding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detection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Weber et al., 2019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Bitcoin anti-money-laundering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best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gap box"/>
          <p:cNvSpPr/>
          <p:nvPr/>
        </p:nvSpPr>
        <p:spPr>
          <a:xfrm>
            <a:off x="548640" y="384048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DDE5EC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38404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Gap: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leakage diagnostics, train-only decisions, SHAP, reusable inference pipeline.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Dataset</a:t>
            </a:r>
            <a:endParaRPr lang="en-US" sz="2800" dirty="0"/>
          </a:p>
        </p:txBody>
      </p:sp>
      <p:sp>
        <p:nvSpPr>
          <p:cNvPr id="4" name="s5 bullets"/>
          <p:cNvSpPr txBox="1"/>
          <p:nvPr/>
        </p:nvSpPr>
        <p:spPr>
          <a:xfrm>
            <a:off x="548640" y="128016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9,841 accounts × 51 columns raw; 9,816 × 41 after cleaning.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Removed 25 duplicate addresses, 3 identifiers, 7 constant columns.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Target FLAG: 0 = legitimate, 1 = fraud (22.2% fraud).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80/20 stratified split, seed 42: 7,852 train, 1,964 test.</a:t>
            </a:r>
            <a:endParaRPr lang="en-US" sz="1600" dirty="0"/>
          </a:p>
        </p:txBody>
      </p:sp>
      <p:sp>
        <p:nvSpPr>
          <p:cNvPr id="5" name="dataset note"/>
          <p:cNvSpPr txBox="1"/>
          <p:nvPr/>
        </p:nvSpPr>
        <p:spPr>
          <a:xfrm>
            <a:off x="54864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Note: dataset source and licence: [Insert]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937760" y="1188720"/>
          <a:ext cx="3657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93776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Fraud accounts: 1,743 train, 436 test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KDD Methodology</a:t>
            </a:r>
            <a:endParaRPr lang="en-US" sz="2800" dirty="0"/>
          </a:p>
        </p:txBody>
      </p:sp>
      <p:sp>
        <p:nvSpPr>
          <p:cNvPr id="4" name="step 1"/>
          <p:cNvSpPr/>
          <p:nvPr/>
        </p:nvSpPr>
        <p:spPr>
          <a:xfrm>
            <a:off x="548640" y="1417320"/>
            <a:ext cx="1444752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4173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 Selection</a:t>
            </a:r>
            <a:endParaRPr lang="en-US" sz="1400" dirty="0"/>
          </a:p>
        </p:txBody>
      </p:sp>
      <p:sp>
        <p:nvSpPr>
          <p:cNvPr id="6" name="caption 1"/>
          <p:cNvSpPr/>
          <p:nvPr/>
        </p:nvSpPr>
        <p:spPr>
          <a:xfrm>
            <a:off x="548640" y="2606040"/>
            <a:ext cx="1444752" cy="1737360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 w="9525">
            <a:solidFill>
              <a:srgbClr val="DADFD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60604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Ethereum account dataset, target FLAG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2011680" y="1920240"/>
            <a:ext cx="169164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tep 2"/>
          <p:cNvSpPr/>
          <p:nvPr/>
        </p:nvSpPr>
        <p:spPr>
          <a:xfrm>
            <a:off x="2199132" y="1417320"/>
            <a:ext cx="1444752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72284" y="14173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 Preprocessing</a:t>
            </a:r>
            <a:endParaRPr lang="en-US" sz="1400" dirty="0"/>
          </a:p>
        </p:txBody>
      </p:sp>
      <p:sp>
        <p:nvSpPr>
          <p:cNvPr id="11" name="caption 2"/>
          <p:cNvSpPr/>
          <p:nvPr/>
        </p:nvSpPr>
        <p:spPr>
          <a:xfrm>
            <a:off x="2199132" y="2606040"/>
            <a:ext cx="1444752" cy="1737360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 w="9525">
            <a:solidFill>
              <a:srgbClr val="DADFD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90572" y="260604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Duplicates, identifiers, constant columns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3662172" y="1920240"/>
            <a:ext cx="169164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step 3"/>
          <p:cNvSpPr/>
          <p:nvPr/>
        </p:nvSpPr>
        <p:spPr>
          <a:xfrm>
            <a:off x="3849624" y="1417320"/>
            <a:ext cx="1444752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22776" y="14173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 Transformation</a:t>
            </a:r>
            <a:endParaRPr lang="en-US" sz="1400" dirty="0"/>
          </a:p>
        </p:txBody>
      </p:sp>
      <p:sp>
        <p:nvSpPr>
          <p:cNvPr id="16" name="caption 3"/>
          <p:cNvSpPr/>
          <p:nvPr/>
        </p:nvSpPr>
        <p:spPr>
          <a:xfrm>
            <a:off x="3849624" y="2606040"/>
            <a:ext cx="1444752" cy="1737360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 w="9525">
            <a:solidFill>
              <a:srgbClr val="DADFD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41064" y="260604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Encode, log, filter, cap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5312664" y="1920240"/>
            <a:ext cx="169164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step 4"/>
          <p:cNvSpPr/>
          <p:nvPr/>
        </p:nvSpPr>
        <p:spPr>
          <a:xfrm>
            <a:off x="5500116" y="1417320"/>
            <a:ext cx="1444752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73268" y="14173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 Data Mining</a:t>
            </a:r>
            <a:endParaRPr lang="en-US" sz="1400" dirty="0"/>
          </a:p>
        </p:txBody>
      </p:sp>
      <p:sp>
        <p:nvSpPr>
          <p:cNvPr id="21" name="caption 4"/>
          <p:cNvSpPr/>
          <p:nvPr/>
        </p:nvSpPr>
        <p:spPr>
          <a:xfrm>
            <a:off x="5500116" y="2606040"/>
            <a:ext cx="1444752" cy="1737360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 w="9525">
            <a:solidFill>
              <a:srgbClr val="DADFD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91556" y="260604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Four models, tuning, threshold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>
            <a:off x="6963156" y="1920240"/>
            <a:ext cx="169164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step 5"/>
          <p:cNvSpPr/>
          <p:nvPr/>
        </p:nvSpPr>
        <p:spPr>
          <a:xfrm>
            <a:off x="7150608" y="1417320"/>
            <a:ext cx="1444752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23760" y="1417320"/>
            <a:ext cx="1298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  Evaluation and Interpretation</a:t>
            </a:r>
            <a:endParaRPr lang="en-US" sz="1400" dirty="0"/>
          </a:p>
        </p:txBody>
      </p:sp>
      <p:sp>
        <p:nvSpPr>
          <p:cNvPr id="26" name="caption 5"/>
          <p:cNvSpPr/>
          <p:nvPr/>
        </p:nvSpPr>
        <p:spPr>
          <a:xfrm>
            <a:off x="7150608" y="2606040"/>
            <a:ext cx="1444752" cy="1737360"/>
          </a:xfrm>
          <a:prstGeom prst="roundRect">
            <a:avLst>
              <a:gd name="adj" fmla="val 5063"/>
            </a:avLst>
          </a:prstGeom>
          <a:solidFill>
            <a:schemeClr val="bg1"/>
          </a:solidFill>
          <a:ln w="9525">
            <a:solidFill>
              <a:srgbClr val="DADFD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242048" y="2606040"/>
            <a:ext cx="1261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metrics, confusion matrix, SHAP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 Transformation (training-fitted only)</a:t>
            </a:r>
            <a:endParaRPr lang="en-US" sz="2800" dirty="0"/>
          </a:p>
        </p:txBody>
      </p:sp>
      <p:sp>
        <p:nvSpPr>
          <p:cNvPr id="4" name="s7 bullets"/>
          <p:cNvSpPr txBox="1"/>
          <p:nvPr/>
        </p:nvSpPr>
        <p:spPr>
          <a:xfrm>
            <a:off x="548640" y="12801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One-hot encode 2 token-type columns: 40 to 60 features.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Signed-log transform on 37 skewed features.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Drop 10 correlated features (|r| &gt; 0.95): 60 to 50.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Cap 25 features at 1st/99th percentile.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Median imputation inside the model pipelines.</a:t>
            </a:r>
            <a:endParaRPr lang="en-US" sz="1800" dirty="0"/>
          </a:p>
        </p:txBody>
      </p:sp>
      <p:sp>
        <p:nvSpPr>
          <p:cNvPr id="5" name="formula card"/>
          <p:cNvSpPr/>
          <p:nvPr/>
        </p:nvSpPr>
        <p:spPr>
          <a:xfrm>
            <a:off x="5532120" y="1371600"/>
            <a:ext cx="3063240" cy="2103120"/>
          </a:xfrm>
          <a:prstGeom prst="roundRect">
            <a:avLst>
              <a:gd name="adj" fmla="val 3478"/>
            </a:avLst>
          </a:prstGeom>
          <a:solidFill>
            <a:srgbClr val="DDE5EC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0" y="15087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Signed-log transform</a:t>
            </a:r>
            <a:endParaRPr lang="en-US" sz="1400" dirty="0"/>
          </a:p>
        </p:txBody>
      </p:sp>
      <p:sp>
        <p:nvSpPr>
          <p:cNvPr id="7" name="formula"/>
          <p:cNvSpPr txBox="1"/>
          <p:nvPr/>
        </p:nvSpPr>
        <p:spPr>
          <a:xfrm>
            <a:off x="5577840" y="19202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x′ = sign(x) · ln(1 + |x|)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3703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Features: 40 → 60 → 50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Modelling and Tuning</a:t>
            </a:r>
            <a:endParaRPr lang="en-US" sz="2800" dirty="0"/>
          </a:p>
        </p:txBody>
      </p:sp>
      <p:sp>
        <p:nvSpPr>
          <p:cNvPr id="4" name="s8 bullets"/>
          <p:cNvSpPr txBox="1"/>
          <p:nvPr/>
        </p:nvSpPr>
        <p:spPr>
          <a:xfrm>
            <a:off x="548640" y="1188720"/>
            <a:ext cx="4206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Baseline plus Logistic Regression, Decision Tree, Random Forest, XGBoost.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5-fold stratified CV; SMOTE inside folds, scale_pos_weight (~3.5) for XGBoost.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Randomised search (20 × 5 folds), scored on average precision.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Selected tuned XGBoost: PR-AUC 0.9987 vs Random Forest 0.9986 (essentially equal).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Threshold 0.60 chosen from out-of-fold training predictions.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846320" y="1097280"/>
          <a:ext cx="3794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model key"/>
          <p:cNvSpPr txBox="1"/>
          <p:nvPr/>
        </p:nvSpPr>
        <p:spPr>
          <a:xfrm>
            <a:off x="484632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LR Logistic Regression, DT Decision Tree, RF Random Forest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Final Test Results</a:t>
            </a:r>
            <a:endParaRPr lang="en-US" sz="2800" dirty="0"/>
          </a:p>
        </p:txBody>
      </p:sp>
      <p:graphicFrame>
        <p:nvGraphicFramePr>
          <p:cNvPr id="10" name="metr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3566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B6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B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F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F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F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F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F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F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806440" y="11704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Predicted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806440" y="14447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Legitimate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7178040" y="14447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Fraud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0" y="182880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Actual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Legitimate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0" y="278892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Actual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Fraud</a:t>
            </a:r>
            <a:endParaRPr lang="en-US" sz="1400" dirty="0"/>
          </a:p>
        </p:txBody>
      </p:sp>
      <p:sp>
        <p:nvSpPr>
          <p:cNvPr id="10" name="cm cell 1"/>
          <p:cNvSpPr/>
          <p:nvPr/>
        </p:nvSpPr>
        <p:spPr>
          <a:xfrm>
            <a:off x="5806440" y="1828800"/>
            <a:ext cx="1325880" cy="86868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806440" y="18288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1,525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true negative</a:t>
            </a:r>
            <a:endParaRPr lang="en-US" sz="2400" dirty="0"/>
          </a:p>
        </p:txBody>
      </p:sp>
      <p:sp>
        <p:nvSpPr>
          <p:cNvPr id="12" name="cm cell 2"/>
          <p:cNvSpPr/>
          <p:nvPr/>
        </p:nvSpPr>
        <p:spPr>
          <a:xfrm>
            <a:off x="7178040" y="1828800"/>
            <a:ext cx="1325880" cy="868680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178040" y="18288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false positive</a:t>
            </a:r>
            <a:endParaRPr lang="en-US" sz="2400" dirty="0"/>
          </a:p>
        </p:txBody>
      </p:sp>
      <p:sp>
        <p:nvSpPr>
          <p:cNvPr id="14" name="cm cell 3"/>
          <p:cNvSpPr/>
          <p:nvPr/>
        </p:nvSpPr>
        <p:spPr>
          <a:xfrm>
            <a:off x="5806440" y="2788920"/>
            <a:ext cx="1325880" cy="868680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806440" y="27889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12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false negative</a:t>
            </a:r>
            <a:endParaRPr lang="en-US" sz="2400" dirty="0"/>
          </a:p>
        </p:txBody>
      </p:sp>
      <p:sp>
        <p:nvSpPr>
          <p:cNvPr id="16" name="cm cell 4"/>
          <p:cNvSpPr/>
          <p:nvPr/>
        </p:nvSpPr>
        <p:spPr>
          <a:xfrm>
            <a:off x="7178040" y="2788920"/>
            <a:ext cx="1325880" cy="86868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178040" y="27889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424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true positive</a:t>
            </a:r>
            <a:endParaRPr lang="en-US" sz="2400" dirty="0"/>
          </a:p>
        </p:txBody>
      </p:sp>
      <p:sp>
        <p:nvSpPr>
          <p:cNvPr id="18" name="summary"/>
          <p:cNvSpPr/>
          <p:nvPr/>
        </p:nvSpPr>
        <p:spPr>
          <a:xfrm>
            <a:off x="548640" y="397764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DDE5EC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7240" y="39776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424 of 436 fraud accounts caught; 3 false alarms among 1,528 legitimate accounts.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Explainability (SHAP)</a:t>
            </a:r>
            <a:endParaRPr lang="en-US" sz="2800" dirty="0"/>
          </a:p>
        </p:txBody>
      </p:sp>
      <p:sp>
        <p:nvSpPr>
          <p:cNvPr id="4" name="s10 bullets"/>
          <p:cNvSpPr txBox="1"/>
          <p:nvPr/>
        </p:nvSpPr>
        <p:spPr>
          <a:xfrm>
            <a:off x="548640" y="11887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Most influential: Total_ERC20_tnxs, then token-type indicators and activity span.</a:t>
            </a:r>
            <a:endParaRPr lang="en-US" sz="16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Longer activity span pushes toward legitimate.</a:t>
            </a:r>
            <a:endParaRPr lang="en-US" sz="16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Importance shows model association, not causation.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423160"/>
          <a:ext cx="80467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New-Account Prediction Pipeline</a:t>
            </a:r>
            <a:endParaRPr lang="en-US" sz="2800" dirty="0"/>
          </a:p>
        </p:txBody>
      </p:sp>
      <p:sp>
        <p:nvSpPr>
          <p:cNvPr id="4" name="pipeline step 1"/>
          <p:cNvSpPr/>
          <p:nvPr/>
        </p:nvSpPr>
        <p:spPr>
          <a:xfrm>
            <a:off x="548640" y="118872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 CSV input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2313432" y="1645920"/>
            <a:ext cx="31089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" name="pipeline step 2"/>
          <p:cNvSpPr/>
          <p:nvPr/>
        </p:nvSpPr>
        <p:spPr>
          <a:xfrm>
            <a:off x="2651760" y="118872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0" y="1188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 Schema validation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rejects FLAG, checks 40 columns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4416552" y="1645920"/>
            <a:ext cx="31089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pipeline step 3"/>
          <p:cNvSpPr/>
          <p:nvPr/>
        </p:nvSpPr>
        <p:spPr>
          <a:xfrm>
            <a:off x="4754880" y="118872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188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 Reuse training preprocessing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6519672" y="1645920"/>
            <a:ext cx="31089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pipeline step 4"/>
          <p:cNvSpPr/>
          <p:nvPr/>
        </p:nvSpPr>
        <p:spPr>
          <a:xfrm>
            <a:off x="6858000" y="118872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1188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 XGBoost probability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7726680" y="2130552"/>
            <a:ext cx="0" cy="356616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pipeline step 5"/>
          <p:cNvSpPr/>
          <p:nvPr/>
        </p:nvSpPr>
        <p:spPr>
          <a:xfrm>
            <a:off x="6858000" y="251460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9440" y="2514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  Threshold 0.60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 flipH="1">
            <a:off x="6519672" y="2971800"/>
            <a:ext cx="31089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pipeline step 6"/>
          <p:cNvSpPr/>
          <p:nvPr/>
        </p:nvSpPr>
        <p:spPr>
          <a:xfrm>
            <a:off x="4754880" y="251460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46320" y="2514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  Fraud / Legitimate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 flipH="1">
            <a:off x="4416552" y="2971800"/>
            <a:ext cx="31089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pipeline step 7"/>
          <p:cNvSpPr/>
          <p:nvPr/>
        </p:nvSpPr>
        <p:spPr>
          <a:xfrm>
            <a:off x="2651760" y="251460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743200" y="2514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7  Dashboard</a:t>
            </a:r>
            <a:endParaRPr lang="en-US" sz="1400" dirty="0"/>
          </a:p>
        </p:txBody>
      </p:sp>
      <p:sp>
        <p:nvSpPr>
          <p:cNvPr id="24" name="synthetic note"/>
          <p:cNvSpPr/>
          <p:nvPr/>
        </p:nvSpPr>
        <p:spPr>
          <a:xfrm>
            <a:off x="548640" y="374904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DDE5EC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37490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Demo uses SYNTHETIC files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(1,200 and 1,500 rows), not real Ethereum data. 1,200-row demo: 80 flagged (6.67%); this is not a real fraud rate or an accuracy measure.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Limitations</a:t>
            </a:r>
            <a:endParaRPr lang="en-US" sz="2800" dirty="0"/>
          </a:p>
        </p:txBody>
      </p:sp>
      <p:sp>
        <p:nvSpPr>
          <p:cNvPr id="4" name="limitations card"/>
          <p:cNvSpPr/>
          <p:nvPr/>
        </p:nvSpPr>
        <p:spPr>
          <a:xfrm>
            <a:off x="548640" y="1280160"/>
            <a:ext cx="548640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5875">
            <a:solidFill>
              <a:srgbClr val="B07A7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7A7A"/>
                </a:solidFill>
              </a:rPr>
              <a:t>Read the results with caution</a:t>
            </a:r>
            <a:endParaRPr lang="en-US" sz="1600" dirty="0"/>
          </a:p>
        </p:txBody>
      </p:sp>
      <p:sp>
        <p:nvSpPr>
          <p:cNvPr id="6" name="s12 bullets"/>
          <p:cNvSpPr txBox="1"/>
          <p:nvPr/>
        </p:nvSpPr>
        <p:spPr>
          <a:xfrm>
            <a:off x="822960" y="187452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About 5.5% of rows repeat features and label.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Some repeated patterns are all fraud; scores may be optimistic.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Single random split; no external or time-based validation.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Labels are “flagged”, not proven fraud; probabilities uncalibrated.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Offline results do not guarantee real-world performance.</a:t>
            </a:r>
            <a:endParaRPr lang="en-US" sz="1600" dirty="0"/>
          </a:p>
        </p:txBody>
      </p:sp>
      <p:sp>
        <p:nvSpPr>
          <p:cNvPr id="7" name="stat 1"/>
          <p:cNvSpPr/>
          <p:nvPr/>
        </p:nvSpPr>
        <p:spPr>
          <a:xfrm>
            <a:off x="6309360" y="1280160"/>
            <a:ext cx="228600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ADFD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5.5%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2148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rows repeat features and label</a:t>
            </a:r>
            <a:endParaRPr lang="en-US" sz="1400" dirty="0"/>
          </a:p>
        </p:txBody>
      </p:sp>
      <p:sp>
        <p:nvSpPr>
          <p:cNvPr id="10" name="stat 2"/>
          <p:cNvSpPr/>
          <p:nvPr/>
        </p:nvSpPr>
        <p:spPr>
          <a:xfrm>
            <a:off x="6309360" y="2971800"/>
            <a:ext cx="228600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ADFD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3108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3840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random split, one dataset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Future Work</a:t>
            </a:r>
            <a:endParaRPr lang="en-US" sz="2800" dirty="0"/>
          </a:p>
        </p:txBody>
      </p:sp>
      <p:sp>
        <p:nvSpPr>
          <p:cNvPr id="4" name="future card 1"/>
          <p:cNvSpPr/>
          <p:nvPr/>
        </p:nvSpPr>
        <p:spPr>
          <a:xfrm>
            <a:off x="548640" y="132588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DADFDC"/>
            </a:solidFill>
            <a:prstDash val="solid"/>
          </a:ln>
        </p:spPr>
      </p:sp>
      <p:sp>
        <p:nvSpPr>
          <p:cNvPr id="5" name="future number 1"/>
          <p:cNvSpPr/>
          <p:nvPr/>
        </p:nvSpPr>
        <p:spPr>
          <a:xfrm>
            <a:off x="777240" y="18288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46304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Validate on newer, independently labelled data with time-based splits.</a:t>
            </a:r>
            <a:endParaRPr lang="en-US" sz="1600" dirty="0"/>
          </a:p>
        </p:txBody>
      </p:sp>
      <p:sp>
        <p:nvSpPr>
          <p:cNvPr id="8" name="future card 2"/>
          <p:cNvSpPr/>
          <p:nvPr/>
        </p:nvSpPr>
        <p:spPr>
          <a:xfrm>
            <a:off x="4663440" y="132588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DADFDC"/>
            </a:solidFill>
            <a:prstDash val="solid"/>
          </a:ln>
        </p:spPr>
      </p:sp>
      <p:sp>
        <p:nvSpPr>
          <p:cNvPr id="9" name="future number 2"/>
          <p:cNvSpPr/>
          <p:nvPr/>
        </p:nvSpPr>
        <p:spPr>
          <a:xfrm>
            <a:off x="4892040" y="18288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146304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Remove repeated patterns and add confidence intervals.</a:t>
            </a:r>
            <a:endParaRPr lang="en-US" sz="1600" dirty="0"/>
          </a:p>
        </p:txBody>
      </p:sp>
      <p:sp>
        <p:nvSpPr>
          <p:cNvPr id="12" name="future card 3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DADFDC"/>
            </a:solidFill>
            <a:prstDash val="solid"/>
          </a:ln>
        </p:spPr>
      </p:sp>
      <p:sp>
        <p:nvSpPr>
          <p:cNvPr id="13" name="future number 3"/>
          <p:cNvSpPr/>
          <p:nvPr/>
        </p:nvSpPr>
        <p:spPr>
          <a:xfrm>
            <a:off x="777240" y="347472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1089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Calibration, cost-based threshold, graph features.</a:t>
            </a:r>
            <a:endParaRPr lang="en-US" sz="1600" dirty="0"/>
          </a:p>
        </p:txBody>
      </p:sp>
      <p:sp>
        <p:nvSpPr>
          <p:cNvPr id="16" name="future card 4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9525">
            <a:solidFill>
              <a:srgbClr val="DADFDC"/>
            </a:solidFill>
            <a:prstDash val="solid"/>
          </a:ln>
        </p:spPr>
      </p:sp>
      <p:sp>
        <p:nvSpPr>
          <p:cNvPr id="17" name="future number 4"/>
          <p:cNvSpPr/>
          <p:nvPr/>
        </p:nvSpPr>
        <p:spPr>
          <a:xfrm>
            <a:off x="4892040" y="347472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9204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532120" y="31089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Secure API with monitoring.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Conclusion and Q&amp;A</a:t>
            </a:r>
            <a:endParaRPr lang="en-US" sz="2800" dirty="0"/>
          </a:p>
        </p:txBody>
      </p:sp>
      <p:sp>
        <p:nvSpPr>
          <p:cNvPr id="4" name="s14 bullets"/>
          <p:cNvSpPr txBox="1"/>
          <p:nvPr/>
        </p:nvSpPr>
        <p:spPr>
          <a:xfrm>
            <a:off x="548640" y="13258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End-to-end KDD pipeline built.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Tuned XGBoost: test F1 0.9826, ROC-AUC 0.9993.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Transparent, leakage-aware workflow with SHAP and reusable prediction pipeline.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Findings bounded by one dataset and one offline split.</a:t>
            </a:r>
            <a:endParaRPr lang="en-US" sz="1800" dirty="0"/>
          </a:p>
        </p:txBody>
      </p:sp>
      <p:sp>
        <p:nvSpPr>
          <p:cNvPr id="5" name="thank you panel"/>
          <p:cNvSpPr/>
          <p:nvPr/>
        </p:nvSpPr>
        <p:spPr>
          <a:xfrm>
            <a:off x="5760720" y="1325880"/>
            <a:ext cx="2834640" cy="3108960"/>
          </a:xfrm>
          <a:prstGeom prst="roundRect">
            <a:avLst>
              <a:gd name="adj" fmla="val 2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60720" y="132588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bg1"/>
                </a:solidFill>
              </a:rPr>
              <a:t>Thank you</a:t>
            </a:r>
            <a:endParaRPr lang="en-US" sz="28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 Slate">
  <a:themeElements>
    <a:clrScheme name="Academic Slate">
      <a:dk1>
        <a:srgbClr val="6B6B6B"/>
      </a:dk1>
      <a:lt1>
        <a:srgbClr val="FFFFFF"/>
      </a:lt1>
      <a:dk2>
        <a:srgbClr val="2F4B6B"/>
      </a:dk2>
      <a:lt2>
        <a:srgbClr val="F7F7F5"/>
      </a:lt2>
      <a:accent1>
        <a:srgbClr val="2F4B6B"/>
      </a:accent1>
      <a:accent2>
        <a:srgbClr val="6F8FAF"/>
      </a:accent2>
      <a:accent3>
        <a:srgbClr val="8FAF9F"/>
      </a:accent3>
      <a:accent4>
        <a:srgbClr val="B07A7A"/>
      </a:accent4>
      <a:accent5>
        <a:srgbClr val="6B6B6B"/>
      </a:accent5>
      <a:accent6>
        <a:srgbClr val="DDE5EC"/>
      </a:accent6>
      <a:hlink>
        <a:srgbClr val="2F4B6B"/>
      </a:hlink>
      <a:folHlink>
        <a:srgbClr val="6F8FAF"/>
      </a:folHlink>
    </a:clrScheme>
    <a:fontScheme name="Academic Sla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Fraudulent Ethereum Accounts Using Machine Learning and the KDD Process</dc:title>
  <dc:subject>PptxGenJS Presentation</dc:subject>
  <dc:creator>Rugved Gadge and Aman Shrikhande</dc:creator>
  <cp:lastModifiedBy>Rugved Gadge and Aman Shrikhande</cp:lastModifiedBy>
  <cp:revision>1</cp:revision>
  <dcterms:created xsi:type="dcterms:W3CDTF">2026-10-12T19:06:30Z</dcterms:created>
  <dcterms:modified xsi:type="dcterms:W3CDTF">2026-10-12T19:06:30Z</dcterms:modified>
</cp:coreProperties>
</file>